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88" r:id="rId4"/>
    <p:sldId id="289" r:id="rId5"/>
    <p:sldId id="290" r:id="rId6"/>
    <p:sldId id="278" r:id="rId7"/>
    <p:sldId id="261" r:id="rId8"/>
    <p:sldId id="262" r:id="rId9"/>
    <p:sldId id="264" r:id="rId10"/>
    <p:sldId id="265" r:id="rId11"/>
    <p:sldId id="291" r:id="rId12"/>
    <p:sldId id="279"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A68A44-99AB-4E9F-828C-D8E2BD97109F}" v="40" dt="2026-02-16T16:17:25.2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11" d="100"/>
          <a:sy n="111" d="100"/>
        </p:scale>
        <p:origin x="662"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9d61e5ab8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9d61e5ab8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201DDF55-513F-7474-C7C7-933E0D389F22}"/>
            </a:ext>
          </a:extLst>
        </p:cNvPr>
        <p:cNvGrpSpPr/>
        <p:nvPr/>
      </p:nvGrpSpPr>
      <p:grpSpPr>
        <a:xfrm>
          <a:off x="0" y="0"/>
          <a:ext cx="0" cy="0"/>
          <a:chOff x="0" y="0"/>
          <a:chExt cx="0" cy="0"/>
        </a:xfrm>
      </p:grpSpPr>
      <p:sp>
        <p:nvSpPr>
          <p:cNvPr id="57" name="Google Shape;57;g39d61e5ab85_0_0:notes">
            <a:extLst>
              <a:ext uri="{FF2B5EF4-FFF2-40B4-BE49-F238E27FC236}">
                <a16:creationId xmlns:a16="http://schemas.microsoft.com/office/drawing/2014/main" id="{110F05AB-0F70-523D-1ED3-815C69DD6E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9d61e5ab85_0_0:notes">
            <a:extLst>
              <a:ext uri="{FF2B5EF4-FFF2-40B4-BE49-F238E27FC236}">
                <a16:creationId xmlns:a16="http://schemas.microsoft.com/office/drawing/2014/main" id="{50640D72-3477-DA07-4960-AA3BCF0D0F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7207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C2E7DFBE-96C9-B6CA-849E-7891CB16F7C4}"/>
            </a:ext>
          </a:extLst>
        </p:cNvPr>
        <p:cNvGrpSpPr/>
        <p:nvPr/>
      </p:nvGrpSpPr>
      <p:grpSpPr>
        <a:xfrm>
          <a:off x="0" y="0"/>
          <a:ext cx="0" cy="0"/>
          <a:chOff x="0" y="0"/>
          <a:chExt cx="0" cy="0"/>
        </a:xfrm>
      </p:grpSpPr>
      <p:sp>
        <p:nvSpPr>
          <p:cNvPr id="57" name="Google Shape;57;g39d61e5ab85_0_0:notes">
            <a:extLst>
              <a:ext uri="{FF2B5EF4-FFF2-40B4-BE49-F238E27FC236}">
                <a16:creationId xmlns:a16="http://schemas.microsoft.com/office/drawing/2014/main" id="{23EBEA12-74DF-7DF0-62F9-6B07A1BAC0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9d61e5ab85_0_0:notes">
            <a:extLst>
              <a:ext uri="{FF2B5EF4-FFF2-40B4-BE49-F238E27FC236}">
                <a16:creationId xmlns:a16="http://schemas.microsoft.com/office/drawing/2014/main" id="{80785CD7-9C82-2CA8-4C74-C44A7AD63B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3690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D367EE7B-B2DD-058E-F0E8-705FC343CFF2}"/>
            </a:ext>
          </a:extLst>
        </p:cNvPr>
        <p:cNvGrpSpPr/>
        <p:nvPr/>
      </p:nvGrpSpPr>
      <p:grpSpPr>
        <a:xfrm>
          <a:off x="0" y="0"/>
          <a:ext cx="0" cy="0"/>
          <a:chOff x="0" y="0"/>
          <a:chExt cx="0" cy="0"/>
        </a:xfrm>
      </p:grpSpPr>
      <p:sp>
        <p:nvSpPr>
          <p:cNvPr id="57" name="Google Shape;57;g39d61e5ab85_0_0:notes">
            <a:extLst>
              <a:ext uri="{FF2B5EF4-FFF2-40B4-BE49-F238E27FC236}">
                <a16:creationId xmlns:a16="http://schemas.microsoft.com/office/drawing/2014/main" id="{C304EA27-6415-8003-BD7E-CA0BB9900A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9d61e5ab85_0_0:notes">
            <a:extLst>
              <a:ext uri="{FF2B5EF4-FFF2-40B4-BE49-F238E27FC236}">
                <a16:creationId xmlns:a16="http://schemas.microsoft.com/office/drawing/2014/main" id="{09FBB0B9-20DB-40ED-2A19-EE989B83BF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3617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9775C374-447A-6238-D372-F0CC63B4CD95}"/>
            </a:ext>
          </a:extLst>
        </p:cNvPr>
        <p:cNvGrpSpPr/>
        <p:nvPr/>
      </p:nvGrpSpPr>
      <p:grpSpPr>
        <a:xfrm>
          <a:off x="0" y="0"/>
          <a:ext cx="0" cy="0"/>
          <a:chOff x="0" y="0"/>
          <a:chExt cx="0" cy="0"/>
        </a:xfrm>
      </p:grpSpPr>
      <p:sp>
        <p:nvSpPr>
          <p:cNvPr id="83" name="Google Shape;83;g39d61e5ab85_0_21:notes">
            <a:extLst>
              <a:ext uri="{FF2B5EF4-FFF2-40B4-BE49-F238E27FC236}">
                <a16:creationId xmlns:a16="http://schemas.microsoft.com/office/drawing/2014/main" id="{BC9AE916-2FA3-5719-0281-522C81144A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9d61e5ab85_0_21:notes">
            <a:extLst>
              <a:ext uri="{FF2B5EF4-FFF2-40B4-BE49-F238E27FC236}">
                <a16:creationId xmlns:a16="http://schemas.microsoft.com/office/drawing/2014/main" id="{94AB2D02-949A-D2B4-4124-FE15A1FD90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55550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9d61e5ab85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9d61e5ab85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9d61e5ab85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9d61e5ab85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9d61e5ab85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9d61e5ab85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9d150cdbd0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9d150cdbd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AFA917C8-EFE0-35D8-29AC-1D0036DA8D53}"/>
            </a:ext>
          </a:extLst>
        </p:cNvPr>
        <p:cNvGrpSpPr/>
        <p:nvPr/>
      </p:nvGrpSpPr>
      <p:grpSpPr>
        <a:xfrm>
          <a:off x="0" y="0"/>
          <a:ext cx="0" cy="0"/>
          <a:chOff x="0" y="0"/>
          <a:chExt cx="0" cy="0"/>
        </a:xfrm>
      </p:grpSpPr>
      <p:sp>
        <p:nvSpPr>
          <p:cNvPr id="110" name="Google Shape;110;g39d150cdbd0_0_15:notes">
            <a:extLst>
              <a:ext uri="{FF2B5EF4-FFF2-40B4-BE49-F238E27FC236}">
                <a16:creationId xmlns:a16="http://schemas.microsoft.com/office/drawing/2014/main" id="{D059449D-30D1-5973-EB03-1A4FCFE07F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9d150cdbd0_0_15:notes">
            <a:extLst>
              <a:ext uri="{FF2B5EF4-FFF2-40B4-BE49-F238E27FC236}">
                <a16:creationId xmlns:a16="http://schemas.microsoft.com/office/drawing/2014/main" id="{0D9CB9EC-AAE3-9E75-FAC2-B8FA29A011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12999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B50463E5-246D-CA8E-75C9-C004DDC77B4C}"/>
            </a:ext>
          </a:extLst>
        </p:cNvPr>
        <p:cNvGrpSpPr/>
        <p:nvPr/>
      </p:nvGrpSpPr>
      <p:grpSpPr>
        <a:xfrm>
          <a:off x="0" y="0"/>
          <a:ext cx="0" cy="0"/>
          <a:chOff x="0" y="0"/>
          <a:chExt cx="0" cy="0"/>
        </a:xfrm>
      </p:grpSpPr>
      <p:sp>
        <p:nvSpPr>
          <p:cNvPr id="110" name="Google Shape;110;g39d150cdbd0_0_15:notes">
            <a:extLst>
              <a:ext uri="{FF2B5EF4-FFF2-40B4-BE49-F238E27FC236}">
                <a16:creationId xmlns:a16="http://schemas.microsoft.com/office/drawing/2014/main" id="{BC2D2E30-0E65-45FE-27A0-C9C905A42D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9d150cdbd0_0_15:notes">
            <a:extLst>
              <a:ext uri="{FF2B5EF4-FFF2-40B4-BE49-F238E27FC236}">
                <a16:creationId xmlns:a16="http://schemas.microsoft.com/office/drawing/2014/main" id="{A708295B-56A0-06DC-296E-1DEDCF2E0A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4135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r>
              <a:rPr lang="en-US"/>
              <a:t>Click to edit Master subtitle style</a:t>
            </a:r>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en-US"/>
              <a:t>Click to edit Master text styles</a:t>
            </a: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a:t>Click to edit Master title style</a:t>
            </a:r>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en-US"/>
              <a:t>Click to edit Master title style</a:t>
            </a:r>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en-US"/>
              <a:t>Click to edit Master text styles</a:t>
            </a: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pPr lvl="0"/>
            <a:r>
              <a:rPr lang="en-US"/>
              <a:t>Click to edit Master text styles</a:t>
            </a: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n-US"/>
              <a:t>Click to edit Master text styles</a:t>
            </a: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www.kaggle.com/datasets/asdasdasasdas/garbage-classification"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pmc.ncbi.nlm.nih.gov/articles/PMC7013584/" TargetMode="External"/><Relationship Id="rId7" Type="http://schemas.openxmlformats.org/officeDocument/2006/relationships/hyperlink" Target="https://francis-press.com/uploads/papers/qd2810eEIhPDLdXhBQjSWXVTJW4SrZ7iCUtQqZfs.pdf"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hyperlink" Target="https://www.researchgate.net/publication/343118558_A_Review_of_Face_Recognition_Technology" TargetMode="External"/><Relationship Id="rId5" Type="http://schemas.openxmlformats.org/officeDocument/2006/relationships/hyperlink" Target="https://ieeexplore.ieee.org/document/9145558" TargetMode="External"/><Relationship Id="rId4" Type="http://schemas.openxmlformats.org/officeDocument/2006/relationships/hyperlink" Target="https://www.ijert.org/research/face-recognition-system-IJERTV8IS050150.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243308" y="37522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US" b="1" dirty="0"/>
              <a:t>Facial Emotion Recognition System</a:t>
            </a:r>
            <a:endParaRPr b="1" dirty="0"/>
          </a:p>
        </p:txBody>
      </p:sp>
      <p:sp>
        <p:nvSpPr>
          <p:cNvPr id="55" name="Google Shape;55;p13"/>
          <p:cNvSpPr txBox="1">
            <a:spLocks noGrp="1"/>
          </p:cNvSpPr>
          <p:nvPr>
            <p:ph type="subTitle" idx="1"/>
          </p:nvPr>
        </p:nvSpPr>
        <p:spPr>
          <a:xfrm>
            <a:off x="311700" y="2571750"/>
            <a:ext cx="8520600" cy="24417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en" sz="2000" dirty="0"/>
              <a:t>Jaypee University of Engineering and Technology</a:t>
            </a:r>
            <a:endParaRPr sz="2000" dirty="0"/>
          </a:p>
          <a:p>
            <a:pPr marL="0" lvl="0" indent="0" algn="l" rtl="0">
              <a:spcBef>
                <a:spcPts val="0"/>
              </a:spcBef>
              <a:spcAft>
                <a:spcPts val="0"/>
              </a:spcAft>
              <a:buNone/>
            </a:pPr>
            <a:endParaRPr lang="pt-BR" sz="2700" dirty="0"/>
          </a:p>
          <a:p>
            <a:pPr marL="0" lvl="0" indent="0" algn="ctr" rtl="0">
              <a:spcBef>
                <a:spcPts val="0"/>
              </a:spcBef>
              <a:spcAft>
                <a:spcPts val="0"/>
              </a:spcAft>
              <a:buNone/>
            </a:pPr>
            <a:r>
              <a:rPr lang="pt-BR" sz="2356" b="1" dirty="0">
                <a:solidFill>
                  <a:srgbClr val="000000"/>
                </a:solidFill>
              </a:rPr>
              <a:t>Project Mentor - Dr. Amit Kumar</a:t>
            </a:r>
          </a:p>
          <a:p>
            <a:pPr marL="0" lvl="0" indent="0" algn="ctr" rtl="0">
              <a:spcBef>
                <a:spcPts val="0"/>
              </a:spcBef>
              <a:spcAft>
                <a:spcPts val="0"/>
              </a:spcAft>
              <a:buNone/>
            </a:pPr>
            <a:r>
              <a:rPr lang="en-US" sz="2356" dirty="0"/>
              <a:t>Project number- AR3</a:t>
            </a:r>
          </a:p>
          <a:p>
            <a:pPr marL="0" lvl="0" indent="0" algn="ctr" rtl="0">
              <a:spcBef>
                <a:spcPts val="0"/>
              </a:spcBef>
              <a:spcAft>
                <a:spcPts val="0"/>
              </a:spcAft>
              <a:buNone/>
            </a:pPr>
            <a:endParaRPr sz="2356" dirty="0"/>
          </a:p>
          <a:p>
            <a:r>
              <a:rPr lang="en-IN" b="1" dirty="0">
                <a:solidFill>
                  <a:schemeClr val="tx1"/>
                </a:solidFill>
              </a:rPr>
              <a:t>Anisha Sharma: 231B047</a:t>
            </a:r>
            <a:endParaRPr lang="en-IN" dirty="0">
              <a:solidFill>
                <a:schemeClr val="tx1"/>
              </a:solidFill>
            </a:endParaRPr>
          </a:p>
          <a:p>
            <a:r>
              <a:rPr lang="en-IN" b="1" dirty="0">
                <a:solidFill>
                  <a:schemeClr val="tx1"/>
                </a:solidFill>
              </a:rPr>
              <a:t>Apurv Kumar: 231B060</a:t>
            </a:r>
          </a:p>
          <a:p>
            <a:r>
              <a:rPr lang="en-IN" b="1" dirty="0">
                <a:solidFill>
                  <a:schemeClr val="tx1"/>
                </a:solidFill>
              </a:rPr>
              <a:t>Aryaman Singh </a:t>
            </a:r>
            <a:r>
              <a:rPr lang="en-IN" b="1" dirty="0" err="1">
                <a:solidFill>
                  <a:schemeClr val="tx1"/>
                </a:solidFill>
              </a:rPr>
              <a:t>Dhakad</a:t>
            </a:r>
            <a:r>
              <a:rPr lang="en-IN" b="1" dirty="0">
                <a:solidFill>
                  <a:schemeClr val="tx1"/>
                </a:solidFill>
              </a:rPr>
              <a:t>: 2310B65</a:t>
            </a:r>
            <a:endParaRPr lang="en-IN" dirty="0">
              <a:solidFill>
                <a:schemeClr val="tx1"/>
              </a:solidFill>
            </a:endParaRPr>
          </a:p>
          <a:p>
            <a:pPr marL="0" lvl="0" indent="0" algn="ctr" rtl="0">
              <a:spcBef>
                <a:spcPts val="0"/>
              </a:spcBef>
              <a:spcAft>
                <a:spcPts val="0"/>
              </a:spcAft>
              <a:buNone/>
            </a:pPr>
            <a:endParaRPr sz="2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355084"/>
            <a:ext cx="8520600" cy="572700"/>
          </a:xfrm>
          <a:prstGeom prst="rect">
            <a:avLst/>
          </a:prstGeom>
        </p:spPr>
        <p:txBody>
          <a:bodyPr spcFirstLastPara="1" wrap="square" lIns="91425" tIns="91425" rIns="91425" bIns="91425" anchor="t" anchorCtr="0">
            <a:normAutofit fontScale="90000"/>
          </a:bodyPr>
          <a:lstStyle/>
          <a:p>
            <a:pPr marL="0" marR="0" lvl="0" indent="0" algn="ctr" rtl="0">
              <a:lnSpc>
                <a:spcPct val="100000"/>
              </a:lnSpc>
              <a:spcBef>
                <a:spcPts val="0"/>
              </a:spcBef>
              <a:spcAft>
                <a:spcPts val="0"/>
              </a:spcAft>
              <a:buNone/>
            </a:pPr>
            <a:r>
              <a:rPr lang="en" b="1" u="sng" dirty="0"/>
              <a:t>Technology </a:t>
            </a:r>
            <a:endParaRPr u="sng" dirty="0"/>
          </a:p>
        </p:txBody>
      </p:sp>
      <p:sp>
        <p:nvSpPr>
          <p:cNvPr id="61" name="Google Shape;61;p14"/>
          <p:cNvSpPr txBox="1">
            <a:spLocks noGrp="1"/>
          </p:cNvSpPr>
          <p:nvPr>
            <p:ph type="body" idx="1"/>
          </p:nvPr>
        </p:nvSpPr>
        <p:spPr>
          <a:xfrm>
            <a:off x="311700" y="995078"/>
            <a:ext cx="8520600" cy="3416400"/>
          </a:xfrm>
          <a:prstGeom prst="rect">
            <a:avLst/>
          </a:prstGeom>
        </p:spPr>
        <p:txBody>
          <a:bodyPr spcFirstLastPara="1" wrap="square" lIns="91425" tIns="91425" rIns="91425" bIns="91425" anchor="t" anchorCtr="0">
            <a:normAutofit/>
          </a:bodyPr>
          <a:lstStyle/>
          <a:p>
            <a:r>
              <a:rPr lang="en-US" sz="2000" dirty="0">
                <a:solidFill>
                  <a:schemeClr val="tx1"/>
                </a:solidFill>
              </a:rPr>
              <a:t>The system leverages CNN-based deep learning with OpenCV-driven face detection to classify human facial emotions in real-time.</a:t>
            </a:r>
          </a:p>
        </p:txBody>
      </p:sp>
      <p:graphicFrame>
        <p:nvGraphicFramePr>
          <p:cNvPr id="2" name="Table 1">
            <a:extLst>
              <a:ext uri="{FF2B5EF4-FFF2-40B4-BE49-F238E27FC236}">
                <a16:creationId xmlns:a16="http://schemas.microsoft.com/office/drawing/2014/main" id="{0356497F-1B37-453A-34C8-8A602BE10A68}"/>
              </a:ext>
            </a:extLst>
          </p:cNvPr>
          <p:cNvGraphicFramePr>
            <a:graphicFrameLocks noGrp="1"/>
          </p:cNvGraphicFramePr>
          <p:nvPr>
            <p:extLst>
              <p:ext uri="{D42A27DB-BD31-4B8C-83A1-F6EECF244321}">
                <p14:modId xmlns:p14="http://schemas.microsoft.com/office/powerpoint/2010/main" val="1645856919"/>
              </p:ext>
            </p:extLst>
          </p:nvPr>
        </p:nvGraphicFramePr>
        <p:xfrm>
          <a:off x="311699" y="2489304"/>
          <a:ext cx="8520599" cy="609600"/>
        </p:xfrm>
        <a:graphic>
          <a:graphicData uri="http://schemas.openxmlformats.org/drawingml/2006/table">
            <a:tbl>
              <a:tblPr/>
              <a:tblGrid>
                <a:gridCol w="3688323">
                  <a:extLst>
                    <a:ext uri="{9D8B030D-6E8A-4147-A177-3AD203B41FA5}">
                      <a16:colId xmlns:a16="http://schemas.microsoft.com/office/drawing/2014/main" val="3051238854"/>
                    </a:ext>
                  </a:extLst>
                </a:gridCol>
                <a:gridCol w="4832276">
                  <a:extLst>
                    <a:ext uri="{9D8B030D-6E8A-4147-A177-3AD203B41FA5}">
                      <a16:colId xmlns:a16="http://schemas.microsoft.com/office/drawing/2014/main" val="2341495506"/>
                    </a:ext>
                  </a:extLst>
                </a:gridCol>
              </a:tblGrid>
              <a:tr h="0">
                <a:tc>
                  <a:txBody>
                    <a:bodyPr/>
                    <a:lstStyle/>
                    <a:p>
                      <a:pPr>
                        <a:buNone/>
                      </a:pPr>
                      <a:r>
                        <a:rPr lang="en-IN" dirty="0"/>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8547918"/>
                  </a:ext>
                </a:extLst>
              </a:tr>
              <a:tr h="0">
                <a:tc>
                  <a:txBody>
                    <a:bodyPr/>
                    <a:lstStyle/>
                    <a:p>
                      <a:pPr>
                        <a:buNone/>
                      </a:pPr>
                      <a:r>
                        <a:rPr lang="en-IN" b="1" dirty="0"/>
                        <a:t>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Core language for ML, computer vision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5738221"/>
                  </a:ext>
                </a:extLst>
              </a:tr>
            </a:tbl>
          </a:graphicData>
        </a:graphic>
      </p:graphicFrame>
      <p:graphicFrame>
        <p:nvGraphicFramePr>
          <p:cNvPr id="3" name="Table 2">
            <a:extLst>
              <a:ext uri="{FF2B5EF4-FFF2-40B4-BE49-F238E27FC236}">
                <a16:creationId xmlns:a16="http://schemas.microsoft.com/office/drawing/2014/main" id="{AA8E74AC-D5F5-AC9A-F6F1-ED61848F3432}"/>
              </a:ext>
            </a:extLst>
          </p:cNvPr>
          <p:cNvGraphicFramePr>
            <a:graphicFrameLocks noGrp="1"/>
          </p:cNvGraphicFramePr>
          <p:nvPr>
            <p:extLst>
              <p:ext uri="{D42A27DB-BD31-4B8C-83A1-F6EECF244321}">
                <p14:modId xmlns:p14="http://schemas.microsoft.com/office/powerpoint/2010/main" val="1519206542"/>
              </p:ext>
            </p:extLst>
          </p:nvPr>
        </p:nvGraphicFramePr>
        <p:xfrm>
          <a:off x="311699" y="3854860"/>
          <a:ext cx="8520599" cy="933556"/>
        </p:xfrm>
        <a:graphic>
          <a:graphicData uri="http://schemas.openxmlformats.org/drawingml/2006/table">
            <a:tbl>
              <a:tblPr/>
              <a:tblGrid>
                <a:gridCol w="3471621">
                  <a:extLst>
                    <a:ext uri="{9D8B030D-6E8A-4147-A177-3AD203B41FA5}">
                      <a16:colId xmlns:a16="http://schemas.microsoft.com/office/drawing/2014/main" val="4022688037"/>
                    </a:ext>
                  </a:extLst>
                </a:gridCol>
                <a:gridCol w="5048978">
                  <a:extLst>
                    <a:ext uri="{9D8B030D-6E8A-4147-A177-3AD203B41FA5}">
                      <a16:colId xmlns:a16="http://schemas.microsoft.com/office/drawing/2014/main" val="1171513279"/>
                    </a:ext>
                  </a:extLst>
                </a:gridCol>
              </a:tblGrid>
              <a:tr h="248737">
                <a:tc>
                  <a:txBody>
                    <a:bodyPr/>
                    <a:lstStyle/>
                    <a:p>
                      <a:pPr>
                        <a:buNone/>
                      </a:pPr>
                      <a:r>
                        <a:rPr lang="en-US" dirty="0"/>
                        <a:t>T</a:t>
                      </a:r>
                      <a:r>
                        <a:rPr lang="en-IN" dirty="0" err="1"/>
                        <a:t>ool</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Role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7297389"/>
                  </a:ext>
                </a:extLst>
              </a:tr>
              <a:tr h="314378">
                <a:tc>
                  <a:txBody>
                    <a:bodyPr/>
                    <a:lstStyle/>
                    <a:p>
                      <a:pPr>
                        <a:buNone/>
                      </a:pPr>
                      <a:r>
                        <a:rPr lang="en-IN" b="1" dirty="0"/>
                        <a:t>TensorFlow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Backend engine, computation graph, GPU/CPU optimization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8506414"/>
                  </a:ext>
                </a:extLst>
              </a:tr>
              <a:tr h="314378">
                <a:tc>
                  <a:txBody>
                    <a:bodyPr/>
                    <a:lstStyle/>
                    <a:p>
                      <a:pPr>
                        <a:buNone/>
                      </a:pPr>
                      <a:r>
                        <a:rPr lang="en-IN" b="1" dirty="0" err="1"/>
                        <a:t>Keras</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High-level API for CNN design and rapid prototyping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1442006"/>
                  </a:ext>
                </a:extLst>
              </a:tr>
            </a:tbl>
          </a:graphicData>
        </a:graphic>
      </p:graphicFrame>
      <p:sp>
        <p:nvSpPr>
          <p:cNvPr id="8" name="Google Shape;61;p14">
            <a:extLst>
              <a:ext uri="{FF2B5EF4-FFF2-40B4-BE49-F238E27FC236}">
                <a16:creationId xmlns:a16="http://schemas.microsoft.com/office/drawing/2014/main" id="{27880611-6A9B-EA85-CC2D-AA4EA1390CB5}"/>
              </a:ext>
            </a:extLst>
          </p:cNvPr>
          <p:cNvSpPr txBox="1">
            <a:spLocks/>
          </p:cNvSpPr>
          <p:nvPr/>
        </p:nvSpPr>
        <p:spPr>
          <a:xfrm>
            <a:off x="509666" y="1183547"/>
            <a:ext cx="8049718"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eaLnBrk="1" hangingPunct="1">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endParaRPr lang="en-US" sz="2000" dirty="0">
              <a:solidFill>
                <a:schemeClr val="tx1"/>
              </a:solidFill>
            </a:endParaRPr>
          </a:p>
          <a:p>
            <a:pPr marL="114300" indent="0">
              <a:buNone/>
            </a:pPr>
            <a:endParaRPr lang="en-US" sz="2000" dirty="0">
              <a:solidFill>
                <a:schemeClr val="tx1"/>
              </a:solidFill>
            </a:endParaRPr>
          </a:p>
          <a:p>
            <a:r>
              <a:rPr lang="en-US" sz="2000" dirty="0">
                <a:solidFill>
                  <a:schemeClr val="tx1"/>
                </a:solidFill>
              </a:rPr>
              <a:t>Core Programming Language :</a:t>
            </a: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a:p>
            <a:r>
              <a:rPr lang="en-US" sz="2000" dirty="0">
                <a:solidFill>
                  <a:schemeClr val="tx1"/>
                </a:solidFill>
              </a:rPr>
              <a:t>Deep Learning Framework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403809C9-B4AA-2C1F-0E36-3883E263A5EE}"/>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BAED3922-6FCE-5017-65A0-5D5AB4D30B3B}"/>
              </a:ext>
            </a:extLst>
          </p:cNvPr>
          <p:cNvSpPr txBox="1">
            <a:spLocks noGrp="1"/>
          </p:cNvSpPr>
          <p:nvPr>
            <p:ph type="title"/>
          </p:nvPr>
        </p:nvSpPr>
        <p:spPr>
          <a:xfrm>
            <a:off x="311700" y="355084"/>
            <a:ext cx="8520600" cy="572700"/>
          </a:xfrm>
          <a:prstGeom prst="rect">
            <a:avLst/>
          </a:prstGeom>
        </p:spPr>
        <p:txBody>
          <a:bodyPr spcFirstLastPara="1" wrap="square" lIns="91425" tIns="91425" rIns="91425" bIns="91425" anchor="t" anchorCtr="0">
            <a:normAutofit fontScale="90000"/>
          </a:bodyPr>
          <a:lstStyle/>
          <a:p>
            <a:pPr marL="0" marR="0" lvl="0" indent="0" algn="ctr" rtl="0">
              <a:lnSpc>
                <a:spcPct val="100000"/>
              </a:lnSpc>
              <a:spcBef>
                <a:spcPts val="0"/>
              </a:spcBef>
              <a:spcAft>
                <a:spcPts val="0"/>
              </a:spcAft>
              <a:buNone/>
            </a:pPr>
            <a:r>
              <a:rPr lang="en" b="1" u="sng" dirty="0"/>
              <a:t>Technology </a:t>
            </a:r>
            <a:endParaRPr u="sng" dirty="0"/>
          </a:p>
        </p:txBody>
      </p:sp>
      <p:sp>
        <p:nvSpPr>
          <p:cNvPr id="8" name="Google Shape;61;p14">
            <a:extLst>
              <a:ext uri="{FF2B5EF4-FFF2-40B4-BE49-F238E27FC236}">
                <a16:creationId xmlns:a16="http://schemas.microsoft.com/office/drawing/2014/main" id="{233C359C-8FE5-55BC-F1E4-719D7823729C}"/>
              </a:ext>
            </a:extLst>
          </p:cNvPr>
          <p:cNvSpPr txBox="1">
            <a:spLocks/>
          </p:cNvSpPr>
          <p:nvPr/>
        </p:nvSpPr>
        <p:spPr>
          <a:xfrm>
            <a:off x="254833" y="927784"/>
            <a:ext cx="8049718" cy="5727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eaLnBrk="1" hangingPunct="1">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r>
              <a:rPr lang="en-US" sz="2000" dirty="0">
                <a:solidFill>
                  <a:schemeClr val="tx1"/>
                </a:solidFill>
              </a:rPr>
              <a:t>Machine Learning Model :</a:t>
            </a:r>
          </a:p>
          <a:p>
            <a:endParaRPr lang="en-US" sz="2000" dirty="0">
              <a:solidFill>
                <a:schemeClr val="tx1"/>
              </a:solidFill>
            </a:endParaRPr>
          </a:p>
        </p:txBody>
      </p:sp>
      <p:graphicFrame>
        <p:nvGraphicFramePr>
          <p:cNvPr id="4" name="Table 3">
            <a:extLst>
              <a:ext uri="{FF2B5EF4-FFF2-40B4-BE49-F238E27FC236}">
                <a16:creationId xmlns:a16="http://schemas.microsoft.com/office/drawing/2014/main" id="{97B18921-D766-31BE-5DD4-F3B3BC608594}"/>
              </a:ext>
            </a:extLst>
          </p:cNvPr>
          <p:cNvGraphicFramePr>
            <a:graphicFrameLocks noGrp="1"/>
          </p:cNvGraphicFramePr>
          <p:nvPr>
            <p:extLst>
              <p:ext uri="{D42A27DB-BD31-4B8C-83A1-F6EECF244321}">
                <p14:modId xmlns:p14="http://schemas.microsoft.com/office/powerpoint/2010/main" val="269693808"/>
              </p:ext>
            </p:extLst>
          </p:nvPr>
        </p:nvGraphicFramePr>
        <p:xfrm>
          <a:off x="310600" y="1624172"/>
          <a:ext cx="4261400" cy="1524000"/>
        </p:xfrm>
        <a:graphic>
          <a:graphicData uri="http://schemas.openxmlformats.org/drawingml/2006/table">
            <a:tbl>
              <a:tblPr/>
              <a:tblGrid>
                <a:gridCol w="2130700">
                  <a:extLst>
                    <a:ext uri="{9D8B030D-6E8A-4147-A177-3AD203B41FA5}">
                      <a16:colId xmlns:a16="http://schemas.microsoft.com/office/drawing/2014/main" val="3468824191"/>
                    </a:ext>
                  </a:extLst>
                </a:gridCol>
                <a:gridCol w="2130700">
                  <a:extLst>
                    <a:ext uri="{9D8B030D-6E8A-4147-A177-3AD203B41FA5}">
                      <a16:colId xmlns:a16="http://schemas.microsoft.com/office/drawing/2014/main" val="464373464"/>
                    </a:ext>
                  </a:extLst>
                </a:gridCol>
              </a:tblGrid>
              <a:tr h="0">
                <a:tc>
                  <a:txBody>
                    <a:bodyPr/>
                    <a:lstStyle/>
                    <a:p>
                      <a:pPr>
                        <a:buNone/>
                      </a:pPr>
                      <a:r>
                        <a:rPr lang="en-IN" dirty="0"/>
                        <a:t>CNN 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5029225"/>
                  </a:ext>
                </a:extLst>
              </a:tr>
              <a:tr h="0">
                <a:tc>
                  <a:txBody>
                    <a:bodyPr/>
                    <a:lstStyle/>
                    <a:p>
                      <a:pPr>
                        <a:buNone/>
                      </a:pPr>
                      <a:r>
                        <a:rPr lang="en-IN" b="1" dirty="0"/>
                        <a:t>Convolution + </a:t>
                      </a:r>
                      <a:r>
                        <a:rPr lang="en-IN" b="1" dirty="0" err="1"/>
                        <a:t>ReLU</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Feature extraction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236982"/>
                  </a:ext>
                </a:extLst>
              </a:tr>
              <a:tr h="0">
                <a:tc>
                  <a:txBody>
                    <a:bodyPr/>
                    <a:lstStyle/>
                    <a:p>
                      <a:pPr>
                        <a:buNone/>
                      </a:pPr>
                      <a:r>
                        <a:rPr lang="en-IN" b="1" dirty="0"/>
                        <a:t>Pooling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Dimensionality reduction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7605380"/>
                  </a:ext>
                </a:extLst>
              </a:tr>
              <a:tr h="0">
                <a:tc>
                  <a:txBody>
                    <a:bodyPr/>
                    <a:lstStyle/>
                    <a:p>
                      <a:pPr>
                        <a:buNone/>
                      </a:pPr>
                      <a:r>
                        <a:rPr lang="en-IN" b="1" dirty="0"/>
                        <a:t>Dropout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Overfitting prevention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7551167"/>
                  </a:ext>
                </a:extLst>
              </a:tr>
              <a:tr h="0">
                <a:tc>
                  <a:txBody>
                    <a:bodyPr/>
                    <a:lstStyle/>
                    <a:p>
                      <a:pPr>
                        <a:buNone/>
                      </a:pPr>
                      <a:r>
                        <a:rPr lang="en-IN" b="1" dirty="0" err="1"/>
                        <a:t>Softmax</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Class probability 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7842587"/>
                  </a:ext>
                </a:extLst>
              </a:tr>
            </a:tbl>
          </a:graphicData>
        </a:graphic>
      </p:graphicFrame>
      <p:graphicFrame>
        <p:nvGraphicFramePr>
          <p:cNvPr id="5" name="Table 4">
            <a:extLst>
              <a:ext uri="{FF2B5EF4-FFF2-40B4-BE49-F238E27FC236}">
                <a16:creationId xmlns:a16="http://schemas.microsoft.com/office/drawing/2014/main" id="{07E641BB-B79B-CA1E-74F9-7D4F14614020}"/>
              </a:ext>
            </a:extLst>
          </p:cNvPr>
          <p:cNvGraphicFramePr>
            <a:graphicFrameLocks noGrp="1"/>
          </p:cNvGraphicFramePr>
          <p:nvPr>
            <p:extLst>
              <p:ext uri="{D42A27DB-BD31-4B8C-83A1-F6EECF244321}">
                <p14:modId xmlns:p14="http://schemas.microsoft.com/office/powerpoint/2010/main" val="4203873130"/>
              </p:ext>
            </p:extLst>
          </p:nvPr>
        </p:nvGraphicFramePr>
        <p:xfrm>
          <a:off x="4953150" y="1870030"/>
          <a:ext cx="3879150" cy="1127760"/>
        </p:xfrm>
        <a:graphic>
          <a:graphicData uri="http://schemas.openxmlformats.org/drawingml/2006/table">
            <a:tbl>
              <a:tblPr/>
              <a:tblGrid>
                <a:gridCol w="1939575">
                  <a:extLst>
                    <a:ext uri="{9D8B030D-6E8A-4147-A177-3AD203B41FA5}">
                      <a16:colId xmlns:a16="http://schemas.microsoft.com/office/drawing/2014/main" val="595634269"/>
                    </a:ext>
                  </a:extLst>
                </a:gridCol>
                <a:gridCol w="1939575">
                  <a:extLst>
                    <a:ext uri="{9D8B030D-6E8A-4147-A177-3AD203B41FA5}">
                      <a16:colId xmlns:a16="http://schemas.microsoft.com/office/drawing/2014/main" val="3792972625"/>
                    </a:ext>
                  </a:extLst>
                </a:gridCol>
              </a:tblGrid>
              <a:tr h="0">
                <a:tc>
                  <a:txBody>
                    <a:bodyPr/>
                    <a:lstStyle/>
                    <a:p>
                      <a:pPr>
                        <a:buNone/>
                      </a:pPr>
                      <a:r>
                        <a:rPr lang="en-IN" dirty="0"/>
                        <a:t>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2426369"/>
                  </a:ext>
                </a:extLst>
              </a:tr>
              <a:tr h="0">
                <a:tc>
                  <a:txBody>
                    <a:bodyPr/>
                    <a:lstStyle/>
                    <a:p>
                      <a:pPr>
                        <a:buNone/>
                      </a:pPr>
                      <a:r>
                        <a:rPr lang="en-IN" dirty="0"/>
                        <a:t>Loss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Categorical </a:t>
                      </a:r>
                    </a:p>
                    <a:p>
                      <a:pPr>
                        <a:buNone/>
                      </a:pPr>
                      <a:r>
                        <a:rPr lang="en-IN" b="1" dirty="0"/>
                        <a:t>Cross-Entropy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0951903"/>
                  </a:ext>
                </a:extLst>
              </a:tr>
              <a:tr h="0">
                <a:tc>
                  <a:txBody>
                    <a:bodyPr/>
                    <a:lstStyle/>
                    <a:p>
                      <a:pPr>
                        <a:buNone/>
                      </a:pPr>
                      <a:r>
                        <a:rPr lang="en-IN" dirty="0"/>
                        <a:t>Optimizer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Adam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8756390"/>
                  </a:ext>
                </a:extLst>
              </a:tr>
            </a:tbl>
          </a:graphicData>
        </a:graphic>
      </p:graphicFrame>
      <p:sp>
        <p:nvSpPr>
          <p:cNvPr id="6" name="Google Shape;61;p14">
            <a:extLst>
              <a:ext uri="{FF2B5EF4-FFF2-40B4-BE49-F238E27FC236}">
                <a16:creationId xmlns:a16="http://schemas.microsoft.com/office/drawing/2014/main" id="{FD17BEC9-3484-DD5D-33E9-9C623EF2C23F}"/>
              </a:ext>
            </a:extLst>
          </p:cNvPr>
          <p:cNvSpPr txBox="1">
            <a:spLocks/>
          </p:cNvSpPr>
          <p:nvPr/>
        </p:nvSpPr>
        <p:spPr>
          <a:xfrm>
            <a:off x="310600" y="3367336"/>
            <a:ext cx="8049718" cy="5727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eaLnBrk="1" hangingPunct="1">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eaLnBrk="1" hangingPunct="1">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r>
              <a:rPr lang="en-US" sz="2000" dirty="0">
                <a:solidFill>
                  <a:schemeClr val="tx1"/>
                </a:solidFill>
              </a:rPr>
              <a:t>Computer Vision Module:</a:t>
            </a:r>
          </a:p>
          <a:p>
            <a:endParaRPr lang="en-US" sz="2000" dirty="0">
              <a:solidFill>
                <a:schemeClr val="tx1"/>
              </a:solidFill>
            </a:endParaRPr>
          </a:p>
        </p:txBody>
      </p:sp>
      <p:graphicFrame>
        <p:nvGraphicFramePr>
          <p:cNvPr id="7" name="Table 6">
            <a:extLst>
              <a:ext uri="{FF2B5EF4-FFF2-40B4-BE49-F238E27FC236}">
                <a16:creationId xmlns:a16="http://schemas.microsoft.com/office/drawing/2014/main" id="{6469FC18-1BC2-04D0-91A8-4FBF6CF16809}"/>
              </a:ext>
            </a:extLst>
          </p:cNvPr>
          <p:cNvGraphicFramePr>
            <a:graphicFrameLocks noGrp="1"/>
          </p:cNvGraphicFramePr>
          <p:nvPr>
            <p:extLst>
              <p:ext uri="{D42A27DB-BD31-4B8C-83A1-F6EECF244321}">
                <p14:modId xmlns:p14="http://schemas.microsoft.com/office/powerpoint/2010/main" val="727299994"/>
              </p:ext>
            </p:extLst>
          </p:nvPr>
        </p:nvGraphicFramePr>
        <p:xfrm>
          <a:off x="311150" y="4049926"/>
          <a:ext cx="8521700" cy="518160"/>
        </p:xfrm>
        <a:graphic>
          <a:graphicData uri="http://schemas.openxmlformats.org/drawingml/2006/table">
            <a:tbl>
              <a:tblPr/>
              <a:tblGrid>
                <a:gridCol w="4260850">
                  <a:extLst>
                    <a:ext uri="{9D8B030D-6E8A-4147-A177-3AD203B41FA5}">
                      <a16:colId xmlns:a16="http://schemas.microsoft.com/office/drawing/2014/main" val="1678818674"/>
                    </a:ext>
                  </a:extLst>
                </a:gridCol>
                <a:gridCol w="4260850">
                  <a:extLst>
                    <a:ext uri="{9D8B030D-6E8A-4147-A177-3AD203B41FA5}">
                      <a16:colId xmlns:a16="http://schemas.microsoft.com/office/drawing/2014/main" val="1993759594"/>
                    </a:ext>
                  </a:extLst>
                </a:gridCol>
              </a:tblGrid>
              <a:tr h="408373">
                <a:tc>
                  <a:txBody>
                    <a:bodyPr/>
                    <a:lstStyle/>
                    <a:p>
                      <a:pPr>
                        <a:buNone/>
                      </a:pPr>
                      <a:r>
                        <a:rPr lang="en-IN" b="1" dirty="0"/>
                        <a:t>OpenCV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Face detection, webcam input, image preprocessing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5443106"/>
                  </a:ext>
                </a:extLst>
              </a:tr>
            </a:tbl>
          </a:graphicData>
        </a:graphic>
      </p:graphicFrame>
    </p:spTree>
    <p:extLst>
      <p:ext uri="{BB962C8B-B14F-4D97-AF65-F5344CB8AC3E}">
        <p14:creationId xmlns:p14="http://schemas.microsoft.com/office/powerpoint/2010/main" val="2053344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94D79AFD-6CEE-970D-7491-0307C0395EE5}"/>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EF616E44-24B9-5893-6608-A43332500FE1}"/>
              </a:ext>
            </a:extLst>
          </p:cNvPr>
          <p:cNvSpPr txBox="1">
            <a:spLocks noGrp="1"/>
          </p:cNvSpPr>
          <p:nvPr>
            <p:ph type="title"/>
          </p:nvPr>
        </p:nvSpPr>
        <p:spPr>
          <a:xfrm>
            <a:off x="311700" y="355084"/>
            <a:ext cx="8520600" cy="572700"/>
          </a:xfrm>
          <a:prstGeom prst="rect">
            <a:avLst/>
          </a:prstGeom>
        </p:spPr>
        <p:txBody>
          <a:bodyPr spcFirstLastPara="1" wrap="square" lIns="91425" tIns="91425" rIns="91425" bIns="91425" anchor="t" anchorCtr="0">
            <a:normAutofit fontScale="90000"/>
          </a:bodyPr>
          <a:lstStyle/>
          <a:p>
            <a:pPr marL="0" marR="0" lvl="0" indent="0" algn="ctr" rtl="0">
              <a:lnSpc>
                <a:spcPct val="100000"/>
              </a:lnSpc>
              <a:spcBef>
                <a:spcPts val="0"/>
              </a:spcBef>
              <a:spcAft>
                <a:spcPts val="0"/>
              </a:spcAft>
              <a:buNone/>
            </a:pPr>
            <a:r>
              <a:rPr lang="en" b="1" u="sng" dirty="0"/>
              <a:t>Methodology &amp; Process-Flow </a:t>
            </a:r>
            <a:endParaRPr u="sng" dirty="0"/>
          </a:p>
        </p:txBody>
      </p:sp>
      <p:pic>
        <p:nvPicPr>
          <p:cNvPr id="16" name="Picture 15">
            <a:extLst>
              <a:ext uri="{FF2B5EF4-FFF2-40B4-BE49-F238E27FC236}">
                <a16:creationId xmlns:a16="http://schemas.microsoft.com/office/drawing/2014/main" id="{22340DD1-6A43-518B-1254-22921CB4D379}"/>
              </a:ext>
            </a:extLst>
          </p:cNvPr>
          <p:cNvPicPr>
            <a:picLocks noChangeAspect="1"/>
          </p:cNvPicPr>
          <p:nvPr/>
        </p:nvPicPr>
        <p:blipFill>
          <a:blip r:embed="rId3"/>
          <a:srcRect l="11583" t="15970" r="18813" b="45876"/>
          <a:stretch>
            <a:fillRect/>
          </a:stretch>
        </p:blipFill>
        <p:spPr>
          <a:xfrm>
            <a:off x="311700" y="1036270"/>
            <a:ext cx="4021670" cy="3465985"/>
          </a:xfrm>
          <a:prstGeom prst="rect">
            <a:avLst/>
          </a:prstGeom>
        </p:spPr>
      </p:pic>
      <p:pic>
        <p:nvPicPr>
          <p:cNvPr id="17" name="Picture 16">
            <a:extLst>
              <a:ext uri="{FF2B5EF4-FFF2-40B4-BE49-F238E27FC236}">
                <a16:creationId xmlns:a16="http://schemas.microsoft.com/office/drawing/2014/main" id="{35A865C9-D280-8E0E-4C9B-F2B9FFFE8D19}"/>
              </a:ext>
            </a:extLst>
          </p:cNvPr>
          <p:cNvPicPr>
            <a:picLocks noChangeAspect="1"/>
          </p:cNvPicPr>
          <p:nvPr/>
        </p:nvPicPr>
        <p:blipFill>
          <a:blip r:embed="rId3"/>
          <a:srcRect l="11583" t="52201" r="18813" b="8250"/>
          <a:stretch>
            <a:fillRect/>
          </a:stretch>
        </p:blipFill>
        <p:spPr>
          <a:xfrm>
            <a:off x="4810632" y="1199213"/>
            <a:ext cx="3875534" cy="3303042"/>
          </a:xfrm>
          <a:prstGeom prst="rect">
            <a:avLst/>
          </a:prstGeom>
        </p:spPr>
      </p:pic>
    </p:spTree>
    <p:extLst>
      <p:ext uri="{BB962C8B-B14F-4D97-AF65-F5344CB8AC3E}">
        <p14:creationId xmlns:p14="http://schemas.microsoft.com/office/powerpoint/2010/main" val="2926387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a:extLst>
            <a:ext uri="{FF2B5EF4-FFF2-40B4-BE49-F238E27FC236}">
              <a16:creationId xmlns:a16="http://schemas.microsoft.com/office/drawing/2014/main" id="{A0A044A5-039F-0556-7B34-6F9D0AC069E8}"/>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E930DDC3-305B-92DF-2FAE-A4C2B7C2C86D}"/>
              </a:ext>
            </a:extLst>
          </p:cNvPr>
          <p:cNvSpPr txBox="1">
            <a:spLocks noGrp="1"/>
          </p:cNvSpPr>
          <p:nvPr>
            <p:ph type="title"/>
          </p:nvPr>
        </p:nvSpPr>
        <p:spPr>
          <a:xfrm>
            <a:off x="311700" y="355084"/>
            <a:ext cx="8520600" cy="572700"/>
          </a:xfrm>
          <a:prstGeom prst="rect">
            <a:avLst/>
          </a:prstGeom>
        </p:spPr>
        <p:txBody>
          <a:bodyPr spcFirstLastPara="1" wrap="square" lIns="91425" tIns="91425" rIns="91425" bIns="91425" anchor="t" anchorCtr="0">
            <a:normAutofit fontScale="90000"/>
          </a:bodyPr>
          <a:lstStyle/>
          <a:p>
            <a:pPr marL="0" marR="0" lvl="0" indent="0" algn="ctr" rtl="0">
              <a:lnSpc>
                <a:spcPct val="100000"/>
              </a:lnSpc>
              <a:spcBef>
                <a:spcPts val="0"/>
              </a:spcBef>
              <a:spcAft>
                <a:spcPts val="0"/>
              </a:spcAft>
              <a:buNone/>
            </a:pPr>
            <a:r>
              <a:rPr lang="en" b="1" u="sng" dirty="0"/>
              <a:t>Data Flow Diagrams (DFDs)</a:t>
            </a:r>
            <a:endParaRPr u="sng" dirty="0"/>
          </a:p>
        </p:txBody>
      </p:sp>
      <p:pic>
        <p:nvPicPr>
          <p:cNvPr id="3" name="Picture 2">
            <a:extLst>
              <a:ext uri="{FF2B5EF4-FFF2-40B4-BE49-F238E27FC236}">
                <a16:creationId xmlns:a16="http://schemas.microsoft.com/office/drawing/2014/main" id="{4B7CAC2A-DE22-48E5-6E61-8454E2E3798D}"/>
              </a:ext>
            </a:extLst>
          </p:cNvPr>
          <p:cNvPicPr>
            <a:picLocks noChangeAspect="1"/>
          </p:cNvPicPr>
          <p:nvPr/>
        </p:nvPicPr>
        <p:blipFill>
          <a:blip r:embed="rId3"/>
          <a:srcRect l="12258" t="7493" r="10073" b="60546"/>
          <a:stretch>
            <a:fillRect/>
          </a:stretch>
        </p:blipFill>
        <p:spPr>
          <a:xfrm>
            <a:off x="97435" y="1313227"/>
            <a:ext cx="4272198" cy="1985678"/>
          </a:xfrm>
          <a:prstGeom prst="rect">
            <a:avLst/>
          </a:prstGeom>
        </p:spPr>
      </p:pic>
      <p:pic>
        <p:nvPicPr>
          <p:cNvPr id="4" name="Picture 3">
            <a:extLst>
              <a:ext uri="{FF2B5EF4-FFF2-40B4-BE49-F238E27FC236}">
                <a16:creationId xmlns:a16="http://schemas.microsoft.com/office/drawing/2014/main" id="{0944F3AA-F14C-3AE1-AE33-F019823F49FD}"/>
              </a:ext>
            </a:extLst>
          </p:cNvPr>
          <p:cNvPicPr>
            <a:picLocks noChangeAspect="1"/>
          </p:cNvPicPr>
          <p:nvPr/>
        </p:nvPicPr>
        <p:blipFill>
          <a:blip r:embed="rId3"/>
          <a:srcRect l="12714" t="45654" r="11220" b="5221"/>
          <a:stretch>
            <a:fillRect/>
          </a:stretch>
        </p:blipFill>
        <p:spPr>
          <a:xfrm>
            <a:off x="4437088" y="1313227"/>
            <a:ext cx="4706912" cy="3039827"/>
          </a:xfrm>
          <a:prstGeom prst="rect">
            <a:avLst/>
          </a:prstGeom>
        </p:spPr>
      </p:pic>
    </p:spTree>
    <p:extLst>
      <p:ext uri="{BB962C8B-B14F-4D97-AF65-F5344CB8AC3E}">
        <p14:creationId xmlns:p14="http://schemas.microsoft.com/office/powerpoint/2010/main" val="626952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a:extLst>
            <a:ext uri="{FF2B5EF4-FFF2-40B4-BE49-F238E27FC236}">
              <a16:creationId xmlns:a16="http://schemas.microsoft.com/office/drawing/2014/main" id="{864960E2-7EE4-719F-255D-AEAB68B99938}"/>
            </a:ext>
          </a:extLst>
        </p:cNvPr>
        <p:cNvGrpSpPr/>
        <p:nvPr/>
      </p:nvGrpSpPr>
      <p:grpSpPr>
        <a:xfrm>
          <a:off x="0" y="0"/>
          <a:ext cx="0" cy="0"/>
          <a:chOff x="0" y="0"/>
          <a:chExt cx="0" cy="0"/>
        </a:xfrm>
      </p:grpSpPr>
      <p:sp>
        <p:nvSpPr>
          <p:cNvPr id="86" name="Google Shape;86;p18">
            <a:extLst>
              <a:ext uri="{FF2B5EF4-FFF2-40B4-BE49-F238E27FC236}">
                <a16:creationId xmlns:a16="http://schemas.microsoft.com/office/drawing/2014/main" id="{44F44C59-96C4-0B29-633F-A0C8AA4B932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u="sng" dirty="0"/>
              <a:t>Hardware &amp; Dataset Overview</a:t>
            </a:r>
            <a:endParaRPr u="sng" dirty="0"/>
          </a:p>
        </p:txBody>
      </p:sp>
      <p:sp>
        <p:nvSpPr>
          <p:cNvPr id="87" name="Google Shape;87;p18">
            <a:extLst>
              <a:ext uri="{FF2B5EF4-FFF2-40B4-BE49-F238E27FC236}">
                <a16:creationId xmlns:a16="http://schemas.microsoft.com/office/drawing/2014/main" id="{AC0B20FA-4F32-8268-C7C3-7485BC9D4DB9}"/>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fontAlgn="base"/>
            <a:r>
              <a:rPr lang="en-US" dirty="0">
                <a:solidFill>
                  <a:schemeClr val="tx1"/>
                </a:solidFill>
              </a:rPr>
              <a:t>The data consists of 48x48 pixel images of faces. The task is to categorize each face based on the emotion shown in the facial expression into one of seven categories (0=Angry, 1=Disgust, 2=Fear, 3=Happy, 4=Sad, 5=Surprise, 6=Neutral). </a:t>
            </a:r>
          </a:p>
          <a:p>
            <a:pPr fontAlgn="base"/>
            <a:r>
              <a:rPr lang="en-US" dirty="0">
                <a:solidFill>
                  <a:schemeClr val="tx1"/>
                </a:solidFill>
              </a:rPr>
              <a:t>The training set consists of 28,709 examples and the public test set consists of 3,589 examples.</a:t>
            </a:r>
            <a:endParaRPr lang="en-IN" dirty="0">
              <a:solidFill>
                <a:schemeClr val="tx1"/>
              </a:solidFill>
            </a:endParaRPr>
          </a:p>
          <a:p>
            <a:pPr algn="just">
              <a:lnSpc>
                <a:spcPct val="150000"/>
              </a:lnSpc>
            </a:pPr>
            <a:r>
              <a:rPr lang="en-IN" dirty="0">
                <a:solidFill>
                  <a:srgbClr val="0097A7"/>
                </a:solidFill>
              </a:rPr>
              <a:t>FER2013</a:t>
            </a:r>
            <a:r>
              <a:rPr lang="en-IN" dirty="0">
                <a:solidFill>
                  <a:srgbClr val="0097A7"/>
                </a:solidFill>
                <a:hlinkClick r:id="rId3">
                  <a:extLst>
                    <a:ext uri="{A12FA001-AC4F-418D-AE19-62706E023703}">
                      <ahyp:hlinkClr xmlns:ahyp="http://schemas.microsoft.com/office/drawing/2018/hyperlinkcolor" val="tx"/>
                    </a:ext>
                  </a:extLst>
                </a:hlinkClick>
              </a:rPr>
              <a:t> </a:t>
            </a:r>
            <a:r>
              <a:rPr lang="en-IN" dirty="0">
                <a:solidFill>
                  <a:srgbClr val="0097A7"/>
                </a:solidFill>
              </a:rPr>
              <a:t> </a:t>
            </a:r>
            <a:r>
              <a:rPr lang="en-IN" dirty="0">
                <a:solidFill>
                  <a:schemeClr val="tx1"/>
                </a:solidFill>
              </a:rPr>
              <a:t>Dataset  – Link to Kaggle Dataset</a:t>
            </a:r>
            <a:endParaRPr lang="en-US" dirty="0">
              <a:solidFill>
                <a:schemeClr val="tx1"/>
              </a:solidFill>
            </a:endParaRPr>
          </a:p>
        </p:txBody>
      </p:sp>
      <p:graphicFrame>
        <p:nvGraphicFramePr>
          <p:cNvPr id="4" name="Table 3">
            <a:extLst>
              <a:ext uri="{FF2B5EF4-FFF2-40B4-BE49-F238E27FC236}">
                <a16:creationId xmlns:a16="http://schemas.microsoft.com/office/drawing/2014/main" id="{2604E61C-5E9A-A33F-69F9-4494A909F6CB}"/>
              </a:ext>
            </a:extLst>
          </p:cNvPr>
          <p:cNvGraphicFramePr>
            <a:graphicFrameLocks noGrp="1"/>
          </p:cNvGraphicFramePr>
          <p:nvPr>
            <p:extLst>
              <p:ext uri="{D42A27DB-BD31-4B8C-83A1-F6EECF244321}">
                <p14:modId xmlns:p14="http://schemas.microsoft.com/office/powerpoint/2010/main" val="2562184452"/>
              </p:ext>
            </p:extLst>
          </p:nvPr>
        </p:nvGraphicFramePr>
        <p:xfrm>
          <a:off x="311700" y="3690130"/>
          <a:ext cx="8521700" cy="1219200"/>
        </p:xfrm>
        <a:graphic>
          <a:graphicData uri="http://schemas.openxmlformats.org/drawingml/2006/table">
            <a:tbl>
              <a:tblPr/>
              <a:tblGrid>
                <a:gridCol w="4260850">
                  <a:extLst>
                    <a:ext uri="{9D8B030D-6E8A-4147-A177-3AD203B41FA5}">
                      <a16:colId xmlns:a16="http://schemas.microsoft.com/office/drawing/2014/main" val="1807708379"/>
                    </a:ext>
                  </a:extLst>
                </a:gridCol>
                <a:gridCol w="4260850">
                  <a:extLst>
                    <a:ext uri="{9D8B030D-6E8A-4147-A177-3AD203B41FA5}">
                      <a16:colId xmlns:a16="http://schemas.microsoft.com/office/drawing/2014/main" val="3495098380"/>
                    </a:ext>
                  </a:extLst>
                </a:gridCol>
              </a:tblGrid>
              <a:tr h="0">
                <a:tc>
                  <a:txBody>
                    <a:bodyPr/>
                    <a:lstStyle/>
                    <a:p>
                      <a:pPr>
                        <a:buNone/>
                      </a:pPr>
                      <a:r>
                        <a:rPr lang="en-IN"/>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4253027"/>
                  </a:ext>
                </a:extLst>
              </a:tr>
              <a:tr h="0">
                <a:tc>
                  <a:txBody>
                    <a:bodyPr/>
                    <a:lstStyle/>
                    <a:p>
                      <a:pPr>
                        <a:buNone/>
                      </a:pPr>
                      <a:r>
                        <a:rPr lang="en-IN"/>
                        <a:t>Processing Unit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CPU / GPU based 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1463279"/>
                  </a:ext>
                </a:extLst>
              </a:tr>
              <a:tr h="0">
                <a:tc>
                  <a:txBody>
                    <a:bodyPr/>
                    <a:lstStyle/>
                    <a:p>
                      <a:pPr>
                        <a:buNone/>
                      </a:pPr>
                      <a:r>
                        <a:rPr lang="en-IN"/>
                        <a:t>Development Environment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Jupyter Notebook / Python IDE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9201554"/>
                  </a:ext>
                </a:extLst>
              </a:tr>
              <a:tr h="0">
                <a:tc>
                  <a:txBody>
                    <a:bodyPr/>
                    <a:lstStyle/>
                    <a:p>
                      <a:pPr>
                        <a:buNone/>
                      </a:pPr>
                      <a:r>
                        <a:rPr lang="en-IN"/>
                        <a:t>Input Device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Webcam for real-time emotion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5661701"/>
                  </a:ext>
                </a:extLst>
              </a:tr>
            </a:tbl>
          </a:graphicData>
        </a:graphic>
      </p:graphicFrame>
    </p:spTree>
    <p:extLst>
      <p:ext uri="{BB962C8B-B14F-4D97-AF65-F5344CB8AC3E}">
        <p14:creationId xmlns:p14="http://schemas.microsoft.com/office/powerpoint/2010/main" val="638647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4" name="Picture 3">
            <a:extLst>
              <a:ext uri="{FF2B5EF4-FFF2-40B4-BE49-F238E27FC236}">
                <a16:creationId xmlns:a16="http://schemas.microsoft.com/office/drawing/2014/main" id="{A6BA51DA-87FE-1D37-4C45-3D7E0FDD168E}"/>
              </a:ext>
            </a:extLst>
          </p:cNvPr>
          <p:cNvPicPr>
            <a:picLocks noChangeAspect="1"/>
          </p:cNvPicPr>
          <p:nvPr/>
        </p:nvPicPr>
        <p:blipFill>
          <a:blip r:embed="rId3"/>
          <a:stretch>
            <a:fillRect/>
          </a:stretch>
        </p:blipFill>
        <p:spPr>
          <a:xfrm>
            <a:off x="831460" y="332348"/>
            <a:ext cx="7481080" cy="44788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311700" y="257648"/>
            <a:ext cx="8520600" cy="572700"/>
          </a:xfrm>
          <a:prstGeom prst="rect">
            <a:avLst/>
          </a:prstGeom>
        </p:spPr>
        <p:txBody>
          <a:bodyPr spcFirstLastPara="1" wrap="square" lIns="91425" tIns="91425" rIns="91425" bIns="91425" anchor="t" anchorCtr="0">
            <a:normAutofit fontScale="90000"/>
          </a:bodyPr>
          <a:lstStyle/>
          <a:p>
            <a:pPr marL="0" marR="0" lvl="0" indent="0" algn="ctr" rtl="0">
              <a:lnSpc>
                <a:spcPct val="100000"/>
              </a:lnSpc>
              <a:spcBef>
                <a:spcPts val="0"/>
              </a:spcBef>
              <a:spcAft>
                <a:spcPts val="0"/>
              </a:spcAft>
              <a:buNone/>
            </a:pPr>
            <a:r>
              <a:rPr lang="en" b="1" u="sng" dirty="0"/>
              <a:t>Visualizing Dataset (Number of Images/class)</a:t>
            </a:r>
            <a:endParaRPr b="1" u="sng" dirty="0"/>
          </a:p>
        </p:txBody>
      </p:sp>
      <p:pic>
        <p:nvPicPr>
          <p:cNvPr id="6" name="Picture 5">
            <a:extLst>
              <a:ext uri="{FF2B5EF4-FFF2-40B4-BE49-F238E27FC236}">
                <a16:creationId xmlns:a16="http://schemas.microsoft.com/office/drawing/2014/main" id="{0217D648-CE25-585D-1818-ACA58D42A0CC}"/>
              </a:ext>
            </a:extLst>
          </p:cNvPr>
          <p:cNvPicPr>
            <a:picLocks noChangeAspect="1"/>
          </p:cNvPicPr>
          <p:nvPr/>
        </p:nvPicPr>
        <p:blipFill>
          <a:blip r:embed="rId3"/>
          <a:stretch>
            <a:fillRect/>
          </a:stretch>
        </p:blipFill>
        <p:spPr>
          <a:xfrm>
            <a:off x="1691634" y="755397"/>
            <a:ext cx="5760731" cy="429768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311700" y="28827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1" u="sng" dirty="0"/>
              <a:t>Work Done (Current Progress)</a:t>
            </a:r>
            <a:endParaRPr u="sng" dirty="0"/>
          </a:p>
        </p:txBody>
      </p:sp>
      <p:sp>
        <p:nvSpPr>
          <p:cNvPr id="108" name="Google Shape;108;p21"/>
          <p:cNvSpPr txBox="1">
            <a:spLocks noGrp="1"/>
          </p:cNvSpPr>
          <p:nvPr>
            <p:ph type="body" idx="1"/>
          </p:nvPr>
        </p:nvSpPr>
        <p:spPr>
          <a:xfrm>
            <a:off x="311700" y="818579"/>
            <a:ext cx="8520600" cy="4180640"/>
          </a:xfrm>
          <a:prstGeom prst="rect">
            <a:avLst/>
          </a:prstGeom>
        </p:spPr>
        <p:txBody>
          <a:bodyPr spcFirstLastPara="1" wrap="square" lIns="91425" tIns="91425" rIns="91425" bIns="91425" anchor="t" anchorCtr="0">
            <a:noAutofit/>
          </a:bodyPr>
          <a:lstStyle/>
          <a:p>
            <a:pPr algn="just">
              <a:lnSpc>
                <a:spcPct val="150000"/>
              </a:lnSpc>
            </a:pPr>
            <a:r>
              <a:rPr lang="en-US" dirty="0"/>
              <a:t>WEEK-1:</a:t>
            </a:r>
            <a:r>
              <a:rPr lang="en-US" dirty="0">
                <a:solidFill>
                  <a:schemeClr val="tx1"/>
                </a:solidFill>
              </a:rPr>
              <a:t> Studied the fundamentals of facial emotion recognition, its real-world applications, and the seven basic emotion categories.</a:t>
            </a:r>
            <a:r>
              <a:rPr lang="en-US" dirty="0"/>
              <a:t> </a:t>
            </a:r>
          </a:p>
          <a:p>
            <a:pPr algn="just">
              <a:lnSpc>
                <a:spcPct val="150000"/>
              </a:lnSpc>
            </a:pPr>
            <a:r>
              <a:rPr lang="en-US" dirty="0"/>
              <a:t>WEEK-2: </a:t>
            </a:r>
            <a:r>
              <a:rPr lang="en-US" dirty="0">
                <a:solidFill>
                  <a:schemeClr val="tx1"/>
                </a:solidFill>
              </a:rPr>
              <a:t>Researched and selected a suitable dataset, reviewed emotion classes, and analyzed the number and types of images. </a:t>
            </a:r>
          </a:p>
          <a:p>
            <a:pPr algn="just">
              <a:lnSpc>
                <a:spcPct val="150000"/>
              </a:lnSpc>
            </a:pPr>
            <a:r>
              <a:rPr lang="en-US" dirty="0"/>
              <a:t>WEEK-3: </a:t>
            </a:r>
            <a:r>
              <a:rPr lang="en-US" dirty="0">
                <a:solidFill>
                  <a:schemeClr val="tx1"/>
                </a:solidFill>
              </a:rPr>
              <a:t>Learned about data preprocessing techniques such as resizing, noise reduction, grayscale conversion, and normalization. </a:t>
            </a:r>
          </a:p>
          <a:p>
            <a:pPr algn="just">
              <a:lnSpc>
                <a:spcPct val="150000"/>
              </a:lnSpc>
            </a:pPr>
            <a:r>
              <a:rPr lang="en-US" dirty="0"/>
              <a:t>WEEK-4: </a:t>
            </a:r>
            <a:r>
              <a:rPr lang="en-US" dirty="0">
                <a:solidFill>
                  <a:schemeClr val="tx1"/>
                </a:solidFill>
              </a:rPr>
              <a:t>Applied preprocessing steps to clean and prepare the facial image dataset for better training performance. </a:t>
            </a:r>
          </a:p>
          <a:p>
            <a:pPr algn="just">
              <a:lnSpc>
                <a:spcPct val="150000"/>
              </a:lnSpc>
            </a:pPr>
            <a:r>
              <a:rPr lang="en-US" dirty="0"/>
              <a:t>WEEK-5: </a:t>
            </a:r>
            <a:r>
              <a:rPr lang="en-US" dirty="0">
                <a:solidFill>
                  <a:schemeClr val="tx1"/>
                </a:solidFill>
              </a:rPr>
              <a:t>Studied deep learning approaches, understood CNN architecture (feature extraction and classification).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250100" y="412308"/>
            <a:ext cx="8520600" cy="572700"/>
          </a:xfrm>
          <a:prstGeom prst="rect">
            <a:avLst/>
          </a:prstGeom>
        </p:spPr>
        <p:txBody>
          <a:bodyPr spcFirstLastPara="1" wrap="square" lIns="91425" tIns="91425" rIns="91425" bIns="91425" anchor="t" anchorCtr="0">
            <a:normAutofit fontScale="90000"/>
          </a:bodyPr>
          <a:lstStyle/>
          <a:p>
            <a:pPr marL="0" marR="0" lvl="0" indent="0" algn="ctr" rtl="0">
              <a:lnSpc>
                <a:spcPct val="100000"/>
              </a:lnSpc>
              <a:spcBef>
                <a:spcPts val="0"/>
              </a:spcBef>
              <a:spcAft>
                <a:spcPts val="0"/>
              </a:spcAft>
              <a:buNone/>
            </a:pPr>
            <a:r>
              <a:rPr lang="en" b="1" u="sng" dirty="0"/>
              <a:t>Future Work </a:t>
            </a:r>
            <a:endParaRPr b="1" u="sng" dirty="0"/>
          </a:p>
        </p:txBody>
      </p:sp>
      <p:sp>
        <p:nvSpPr>
          <p:cNvPr id="114" name="Google Shape;114;p22"/>
          <p:cNvSpPr txBox="1">
            <a:spLocks noGrp="1"/>
          </p:cNvSpPr>
          <p:nvPr>
            <p:ph type="body" idx="1"/>
          </p:nvPr>
        </p:nvSpPr>
        <p:spPr>
          <a:xfrm>
            <a:off x="250100" y="1028442"/>
            <a:ext cx="8520600" cy="3416400"/>
          </a:xfrm>
          <a:prstGeom prst="rect">
            <a:avLst/>
          </a:prstGeom>
        </p:spPr>
        <p:txBody>
          <a:bodyPr spcFirstLastPara="1" wrap="square" lIns="91425" tIns="91425" rIns="91425" bIns="91425" anchor="t" anchorCtr="0">
            <a:noAutofit/>
          </a:bodyPr>
          <a:lstStyle/>
          <a:p>
            <a:pPr marL="101600" lvl="0" indent="0">
              <a:buClr>
                <a:schemeClr val="dk1"/>
              </a:buClr>
              <a:buSzPts val="2000"/>
              <a:buNone/>
            </a:pPr>
            <a:r>
              <a:rPr lang="en-US" b="1" dirty="0">
                <a:solidFill>
                  <a:schemeClr val="tx1"/>
                </a:solidFill>
              </a:rPr>
              <a:t>1. Model Development: </a:t>
            </a:r>
          </a:p>
          <a:p>
            <a:pPr marL="101600" lvl="0" indent="0">
              <a:buClr>
                <a:schemeClr val="dk1"/>
              </a:buClr>
              <a:buSzPts val="2000"/>
              <a:buNone/>
            </a:pPr>
            <a:r>
              <a:rPr lang="en-US" dirty="0">
                <a:solidFill>
                  <a:schemeClr val="tx1"/>
                </a:solidFill>
              </a:rPr>
              <a:t>       - Build a CNN-based deep learning model. </a:t>
            </a:r>
          </a:p>
          <a:p>
            <a:pPr marL="101600" lvl="0" indent="0">
              <a:buClr>
                <a:schemeClr val="dk1"/>
              </a:buClr>
              <a:buSzPts val="2000"/>
              <a:buNone/>
            </a:pPr>
            <a:r>
              <a:rPr lang="en-US" dirty="0">
                <a:solidFill>
                  <a:schemeClr val="tx1"/>
                </a:solidFill>
              </a:rPr>
              <a:t>       - Experiment with custom CNN and transfer learning. </a:t>
            </a:r>
          </a:p>
          <a:p>
            <a:pPr marL="101600" lvl="0" indent="0">
              <a:buClr>
                <a:schemeClr val="dk1"/>
              </a:buClr>
              <a:buSzPts val="2000"/>
              <a:buNone/>
            </a:pPr>
            <a:r>
              <a:rPr lang="en-US" dirty="0">
                <a:solidFill>
                  <a:schemeClr val="tx1"/>
                </a:solidFill>
              </a:rPr>
              <a:t>       - Compare performance using accuracy and loss. </a:t>
            </a:r>
          </a:p>
          <a:p>
            <a:pPr marL="101600" lvl="0" indent="0">
              <a:buClr>
                <a:schemeClr val="dk1"/>
              </a:buClr>
              <a:buSzPts val="2000"/>
              <a:buNone/>
            </a:pPr>
            <a:r>
              <a:rPr lang="en-US" b="1" dirty="0">
                <a:solidFill>
                  <a:schemeClr val="tx1"/>
                </a:solidFill>
              </a:rPr>
              <a:t>2. Model Training &amp; Optimization: </a:t>
            </a:r>
          </a:p>
          <a:p>
            <a:pPr marL="101600" lvl="0" indent="0">
              <a:buClr>
                <a:schemeClr val="dk1"/>
              </a:buClr>
              <a:buSzPts val="2000"/>
              <a:buNone/>
            </a:pPr>
            <a:r>
              <a:rPr lang="en-US" dirty="0">
                <a:solidFill>
                  <a:schemeClr val="tx1"/>
                </a:solidFill>
              </a:rPr>
              <a:t>       - Train the model on the prepared dataset.  </a:t>
            </a:r>
          </a:p>
          <a:p>
            <a:pPr marL="101600" lvl="0" indent="0">
              <a:buClr>
                <a:schemeClr val="dk1"/>
              </a:buClr>
              <a:buSzPts val="2000"/>
              <a:buNone/>
            </a:pPr>
            <a:r>
              <a:rPr lang="en-US" dirty="0">
                <a:solidFill>
                  <a:schemeClr val="tx1"/>
                </a:solidFill>
              </a:rPr>
              <a:t>       - Tune hyperparameters (learning rate, batch size, epochs). </a:t>
            </a:r>
          </a:p>
          <a:p>
            <a:pPr marL="101600" lvl="0" indent="0">
              <a:buClr>
                <a:schemeClr val="dk1"/>
              </a:buClr>
              <a:buSzPts val="2000"/>
              <a:buNone/>
            </a:pPr>
            <a:r>
              <a:rPr lang="en-US" dirty="0">
                <a:solidFill>
                  <a:schemeClr val="tx1"/>
                </a:solidFill>
              </a:rPr>
              <a:t>       - Apply dropout and data augmentation to reduce overfitting. </a:t>
            </a:r>
          </a:p>
          <a:p>
            <a:pPr marL="101600" lvl="0" indent="0">
              <a:buClr>
                <a:schemeClr val="dk1"/>
              </a:buClr>
              <a:buSzPts val="2000"/>
              <a:buNone/>
            </a:pPr>
            <a:r>
              <a:rPr lang="en-US" b="1" dirty="0">
                <a:solidFill>
                  <a:schemeClr val="tx1"/>
                </a:solidFill>
              </a:rPr>
              <a:t>3. Model Evaluation:</a:t>
            </a:r>
            <a:r>
              <a:rPr lang="en-US" dirty="0">
                <a:solidFill>
                  <a:schemeClr val="tx1"/>
                </a:solidFill>
              </a:rPr>
              <a:t> </a:t>
            </a:r>
          </a:p>
          <a:p>
            <a:pPr marL="101600" lvl="0" indent="0">
              <a:buClr>
                <a:schemeClr val="dk1"/>
              </a:buClr>
              <a:buSzPts val="2000"/>
              <a:buNone/>
            </a:pPr>
            <a:r>
              <a:rPr lang="en-US" dirty="0">
                <a:solidFill>
                  <a:schemeClr val="tx1"/>
                </a:solidFill>
              </a:rPr>
              <a:t>       - Evaluate using accuracy, precision, recall, F1-score, and confusion matrix. </a:t>
            </a:r>
          </a:p>
          <a:p>
            <a:pPr marL="101600" lvl="0" indent="0">
              <a:buClr>
                <a:schemeClr val="dk1"/>
              </a:buClr>
              <a:buSzPts val="2000"/>
              <a:buNone/>
            </a:pPr>
            <a:r>
              <a:rPr lang="en-US" dirty="0">
                <a:solidFill>
                  <a:schemeClr val="tx1"/>
                </a:solidFill>
              </a:rPr>
              <a:t>       - Test on unseen data for validation.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04BAD2B1-41DC-C424-4DF7-80336E9AB528}"/>
            </a:ext>
          </a:extLst>
        </p:cNvPr>
        <p:cNvGrpSpPr/>
        <p:nvPr/>
      </p:nvGrpSpPr>
      <p:grpSpPr>
        <a:xfrm>
          <a:off x="0" y="0"/>
          <a:ext cx="0" cy="0"/>
          <a:chOff x="0" y="0"/>
          <a:chExt cx="0" cy="0"/>
        </a:xfrm>
      </p:grpSpPr>
      <p:sp>
        <p:nvSpPr>
          <p:cNvPr id="113" name="Google Shape;113;p22">
            <a:extLst>
              <a:ext uri="{FF2B5EF4-FFF2-40B4-BE49-F238E27FC236}">
                <a16:creationId xmlns:a16="http://schemas.microsoft.com/office/drawing/2014/main" id="{C14D1761-32FC-C57C-2E04-B43C2661F640}"/>
              </a:ext>
            </a:extLst>
          </p:cNvPr>
          <p:cNvSpPr txBox="1">
            <a:spLocks noGrp="1"/>
          </p:cNvSpPr>
          <p:nvPr>
            <p:ph type="title"/>
          </p:nvPr>
        </p:nvSpPr>
        <p:spPr>
          <a:xfrm>
            <a:off x="311700" y="429625"/>
            <a:ext cx="8520600" cy="572700"/>
          </a:xfrm>
          <a:prstGeom prst="rect">
            <a:avLst/>
          </a:prstGeom>
        </p:spPr>
        <p:txBody>
          <a:bodyPr spcFirstLastPara="1" wrap="square" lIns="91425" tIns="91425" rIns="91425" bIns="91425" anchor="t" anchorCtr="0">
            <a:normAutofit fontScale="90000"/>
          </a:bodyPr>
          <a:lstStyle/>
          <a:p>
            <a:pPr marL="0" marR="0" lvl="0" indent="0" algn="ctr" rtl="0">
              <a:lnSpc>
                <a:spcPct val="100000"/>
              </a:lnSpc>
              <a:spcBef>
                <a:spcPts val="0"/>
              </a:spcBef>
              <a:spcAft>
                <a:spcPts val="0"/>
              </a:spcAft>
              <a:buNone/>
            </a:pPr>
            <a:r>
              <a:rPr lang="en" b="1" u="sng" dirty="0"/>
              <a:t>Future Work</a:t>
            </a:r>
            <a:endParaRPr b="1" u="sng" dirty="0"/>
          </a:p>
        </p:txBody>
      </p:sp>
      <p:sp>
        <p:nvSpPr>
          <p:cNvPr id="114" name="Google Shape;114;p22">
            <a:extLst>
              <a:ext uri="{FF2B5EF4-FFF2-40B4-BE49-F238E27FC236}">
                <a16:creationId xmlns:a16="http://schemas.microsoft.com/office/drawing/2014/main" id="{0D727476-9CDF-09CF-5EDF-5433036582B7}"/>
              </a:ext>
            </a:extLst>
          </p:cNvPr>
          <p:cNvSpPr txBox="1">
            <a:spLocks noGrp="1"/>
          </p:cNvSpPr>
          <p:nvPr>
            <p:ph type="body" idx="1"/>
          </p:nvPr>
        </p:nvSpPr>
        <p:spPr>
          <a:xfrm>
            <a:off x="311700" y="1230809"/>
            <a:ext cx="8520600" cy="3416400"/>
          </a:xfrm>
          <a:prstGeom prst="rect">
            <a:avLst/>
          </a:prstGeom>
        </p:spPr>
        <p:txBody>
          <a:bodyPr spcFirstLastPara="1" wrap="square" lIns="91425" tIns="91425" rIns="91425" bIns="91425" anchor="t" anchorCtr="0">
            <a:normAutofit fontScale="92500" lnSpcReduction="10000"/>
          </a:bodyPr>
          <a:lstStyle/>
          <a:p>
            <a:pPr marL="101600" lvl="0" indent="0">
              <a:buClr>
                <a:schemeClr val="dk1"/>
              </a:buClr>
              <a:buSzPts val="2000"/>
              <a:buNone/>
            </a:pPr>
            <a:r>
              <a:rPr lang="en-US" sz="2000" b="1" dirty="0">
                <a:solidFill>
                  <a:schemeClr val="tx1"/>
                </a:solidFill>
              </a:rPr>
              <a:t>4. Real-Time Emotion Detection: </a:t>
            </a:r>
          </a:p>
          <a:p>
            <a:pPr marL="101600" lvl="0" indent="0">
              <a:buClr>
                <a:schemeClr val="dk1"/>
              </a:buClr>
              <a:buSzPts val="2000"/>
              <a:buNone/>
            </a:pPr>
            <a:r>
              <a:rPr lang="en-US" sz="2000" dirty="0">
                <a:solidFill>
                  <a:schemeClr val="tx1"/>
                </a:solidFill>
              </a:rPr>
              <a:t>            - Integrate the trained model with webcam using OpenCV. </a:t>
            </a:r>
          </a:p>
          <a:p>
            <a:pPr marL="101600" lvl="0" indent="0">
              <a:buClr>
                <a:schemeClr val="dk1"/>
              </a:buClr>
              <a:buSzPts val="2000"/>
              <a:buNone/>
            </a:pPr>
            <a:r>
              <a:rPr lang="en-US" sz="2000" dirty="0">
                <a:solidFill>
                  <a:schemeClr val="tx1"/>
                </a:solidFill>
              </a:rPr>
              <a:t>            - Enable live face detection and emotion prediction. </a:t>
            </a:r>
          </a:p>
          <a:p>
            <a:pPr marL="101600" lvl="0" indent="0">
              <a:buClr>
                <a:schemeClr val="dk1"/>
              </a:buClr>
              <a:buSzPts val="2000"/>
              <a:buNone/>
            </a:pPr>
            <a:r>
              <a:rPr lang="en-US" sz="2000" b="1" dirty="0">
                <a:solidFill>
                  <a:schemeClr val="tx1"/>
                </a:solidFill>
              </a:rPr>
              <a:t>5. Performance Improvement: </a:t>
            </a:r>
          </a:p>
          <a:p>
            <a:pPr marL="101600" lvl="0" indent="0">
              <a:buClr>
                <a:schemeClr val="dk1"/>
              </a:buClr>
              <a:buSzPts val="2000"/>
              <a:buNone/>
            </a:pPr>
            <a:r>
              <a:rPr lang="en-US" sz="2000" dirty="0">
                <a:solidFill>
                  <a:schemeClr val="tx1"/>
                </a:solidFill>
              </a:rPr>
              <a:t>	- Improve robustness against lighting changes and facial angles. </a:t>
            </a:r>
          </a:p>
          <a:p>
            <a:pPr marL="101600" lvl="0" indent="0">
              <a:buClr>
                <a:schemeClr val="dk1"/>
              </a:buClr>
              <a:buSzPts val="2000"/>
              <a:buNone/>
            </a:pPr>
            <a:r>
              <a:rPr lang="en-US" sz="2000" dirty="0">
                <a:solidFill>
                  <a:schemeClr val="tx1"/>
                </a:solidFill>
              </a:rPr>
              <a:t>	- Optimize speed for real-time prediction. </a:t>
            </a:r>
          </a:p>
          <a:p>
            <a:pPr marL="101600" lvl="0" indent="0">
              <a:buClr>
                <a:schemeClr val="dk1"/>
              </a:buClr>
              <a:buSzPts val="2000"/>
              <a:buNone/>
            </a:pPr>
            <a:r>
              <a:rPr lang="en-US" sz="2000" b="1" dirty="0">
                <a:solidFill>
                  <a:schemeClr val="tx1"/>
                </a:solidFill>
              </a:rPr>
              <a:t>6. Deployment: </a:t>
            </a:r>
          </a:p>
          <a:p>
            <a:pPr marL="101600" lvl="0" indent="0">
              <a:buClr>
                <a:schemeClr val="dk1"/>
              </a:buClr>
              <a:buSzPts val="2000"/>
              <a:buNone/>
            </a:pPr>
            <a:r>
              <a:rPr lang="en-US" sz="2000" dirty="0">
                <a:solidFill>
                  <a:schemeClr val="tx1"/>
                </a:solidFill>
              </a:rPr>
              <a:t>	- Develop a simple GUI. </a:t>
            </a:r>
          </a:p>
          <a:p>
            <a:pPr marL="101600" lvl="0" indent="0">
              <a:buClr>
                <a:schemeClr val="dk1"/>
              </a:buClr>
              <a:buSzPts val="2000"/>
              <a:buNone/>
            </a:pPr>
            <a:r>
              <a:rPr lang="en-US" sz="2000" dirty="0">
                <a:solidFill>
                  <a:schemeClr val="tx1"/>
                </a:solidFill>
              </a:rPr>
              <a:t>	- Convert the model into deployable format (.h5 / .pt). </a:t>
            </a:r>
          </a:p>
          <a:p>
            <a:pPr marL="101600" lvl="0" indent="0">
              <a:buClr>
                <a:schemeClr val="dk1"/>
              </a:buClr>
              <a:buSzPts val="2000"/>
              <a:buNone/>
            </a:pPr>
            <a:r>
              <a:rPr lang="en-US" sz="2000" dirty="0">
                <a:solidFill>
                  <a:schemeClr val="tx1"/>
                </a:solidFill>
              </a:rPr>
              <a:t>	- Optionally deploy as a web application. </a:t>
            </a:r>
          </a:p>
        </p:txBody>
      </p:sp>
    </p:spTree>
    <p:extLst>
      <p:ext uri="{BB962C8B-B14F-4D97-AF65-F5344CB8AC3E}">
        <p14:creationId xmlns:p14="http://schemas.microsoft.com/office/powerpoint/2010/main" val="3059254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551F466F-1318-5587-5682-541083B5CF9F}"/>
            </a:ext>
          </a:extLst>
        </p:cNvPr>
        <p:cNvGrpSpPr/>
        <p:nvPr/>
      </p:nvGrpSpPr>
      <p:grpSpPr>
        <a:xfrm>
          <a:off x="0" y="0"/>
          <a:ext cx="0" cy="0"/>
          <a:chOff x="0" y="0"/>
          <a:chExt cx="0" cy="0"/>
        </a:xfrm>
      </p:grpSpPr>
      <p:sp>
        <p:nvSpPr>
          <p:cNvPr id="113" name="Google Shape;113;p22">
            <a:extLst>
              <a:ext uri="{FF2B5EF4-FFF2-40B4-BE49-F238E27FC236}">
                <a16:creationId xmlns:a16="http://schemas.microsoft.com/office/drawing/2014/main" id="{D7A6922B-9054-14DC-BECF-F4F69CFD5A7D}"/>
              </a:ext>
            </a:extLst>
          </p:cNvPr>
          <p:cNvSpPr txBox="1">
            <a:spLocks noGrp="1"/>
          </p:cNvSpPr>
          <p:nvPr>
            <p:ph type="title"/>
          </p:nvPr>
        </p:nvSpPr>
        <p:spPr>
          <a:xfrm>
            <a:off x="197634" y="197277"/>
            <a:ext cx="8520600" cy="572700"/>
          </a:xfrm>
          <a:prstGeom prst="rect">
            <a:avLst/>
          </a:prstGeom>
        </p:spPr>
        <p:txBody>
          <a:bodyPr spcFirstLastPara="1" wrap="square" lIns="91425" tIns="91425" rIns="91425" bIns="91425" anchor="t" anchorCtr="0">
            <a:normAutofit fontScale="90000"/>
          </a:bodyPr>
          <a:lstStyle/>
          <a:p>
            <a:pPr marL="0" marR="0" lvl="0" indent="0" algn="ctr" rtl="0">
              <a:lnSpc>
                <a:spcPct val="100000"/>
              </a:lnSpc>
              <a:spcBef>
                <a:spcPts val="0"/>
              </a:spcBef>
              <a:spcAft>
                <a:spcPts val="0"/>
              </a:spcAft>
              <a:buNone/>
            </a:pPr>
            <a:r>
              <a:rPr lang="en" b="1" u="sng" dirty="0"/>
              <a:t>References</a:t>
            </a:r>
            <a:endParaRPr b="1" u="sng" dirty="0"/>
          </a:p>
        </p:txBody>
      </p:sp>
      <p:sp>
        <p:nvSpPr>
          <p:cNvPr id="114" name="Google Shape;114;p22">
            <a:extLst>
              <a:ext uri="{FF2B5EF4-FFF2-40B4-BE49-F238E27FC236}">
                <a16:creationId xmlns:a16="http://schemas.microsoft.com/office/drawing/2014/main" id="{105E56DC-CB45-F044-F6EC-76784221D668}"/>
              </a:ext>
            </a:extLst>
          </p:cNvPr>
          <p:cNvSpPr txBox="1">
            <a:spLocks noGrp="1"/>
          </p:cNvSpPr>
          <p:nvPr>
            <p:ph type="body" idx="1"/>
          </p:nvPr>
        </p:nvSpPr>
        <p:spPr>
          <a:xfrm>
            <a:off x="311700" y="1155032"/>
            <a:ext cx="8520600" cy="3658683"/>
          </a:xfrm>
          <a:prstGeom prst="rect">
            <a:avLst/>
          </a:prstGeom>
        </p:spPr>
        <p:txBody>
          <a:bodyPr spcFirstLastPara="1" wrap="square" lIns="91425" tIns="91425" rIns="91425" bIns="91425" anchor="t" anchorCtr="0">
            <a:noAutofit/>
          </a:bodyPr>
          <a:lstStyle/>
          <a:p>
            <a:pPr marL="444500" algn="just">
              <a:lnSpc>
                <a:spcPct val="150000"/>
              </a:lnSpc>
              <a:buClr>
                <a:schemeClr val="dk1"/>
              </a:buClr>
              <a:buSzPts val="2000"/>
              <a:buAutoNum type="arabicPeriod"/>
            </a:pPr>
            <a:r>
              <a:rPr lang="en-IN" dirty="0">
                <a:solidFill>
                  <a:schemeClr val="tx1"/>
                </a:solidFill>
                <a:hlinkClick r:id="rId3"/>
              </a:rPr>
              <a:t>https://pmc.ncbi.nlm.nih.gov/articles/PMC7013584/</a:t>
            </a:r>
            <a:endParaRPr lang="en-IN" dirty="0">
              <a:solidFill>
                <a:schemeClr val="tx1"/>
              </a:solidFill>
            </a:endParaRPr>
          </a:p>
          <a:p>
            <a:pPr marL="444500" algn="just">
              <a:lnSpc>
                <a:spcPct val="150000"/>
              </a:lnSpc>
              <a:buClr>
                <a:schemeClr val="dk1"/>
              </a:buClr>
              <a:buSzPts val="2000"/>
              <a:buAutoNum type="arabicPeriod"/>
            </a:pPr>
            <a:r>
              <a:rPr lang="en-IN" dirty="0">
                <a:solidFill>
                  <a:schemeClr val="tx1"/>
                </a:solidFill>
                <a:hlinkClick r:id="rId4"/>
              </a:rPr>
              <a:t>https://www.ijert.org/research/face-recognition-system-IJERTV8IS050150.pdf</a:t>
            </a:r>
            <a:endParaRPr lang="en-IN" dirty="0">
              <a:solidFill>
                <a:schemeClr val="tx1"/>
              </a:solidFill>
            </a:endParaRPr>
          </a:p>
          <a:p>
            <a:pPr marL="444500" algn="just">
              <a:lnSpc>
                <a:spcPct val="150000"/>
              </a:lnSpc>
              <a:buClr>
                <a:schemeClr val="dk1"/>
              </a:buClr>
              <a:buSzPts val="2000"/>
              <a:buAutoNum type="arabicPeriod"/>
            </a:pPr>
            <a:r>
              <a:rPr lang="en-IN" dirty="0">
                <a:solidFill>
                  <a:schemeClr val="tx1"/>
                </a:solidFill>
                <a:hlinkClick r:id="rId5"/>
              </a:rPr>
              <a:t>https://ieeexplore.ieee.org/document/9145558</a:t>
            </a:r>
            <a:endParaRPr lang="en-IN" dirty="0">
              <a:solidFill>
                <a:schemeClr val="tx1"/>
              </a:solidFill>
            </a:endParaRPr>
          </a:p>
          <a:p>
            <a:pPr marL="444500" algn="just">
              <a:lnSpc>
                <a:spcPct val="150000"/>
              </a:lnSpc>
              <a:buClr>
                <a:schemeClr val="dk1"/>
              </a:buClr>
              <a:buSzPts val="2000"/>
              <a:buAutoNum type="arabicPeriod"/>
            </a:pPr>
            <a:r>
              <a:rPr lang="en-IN" dirty="0">
                <a:solidFill>
                  <a:schemeClr val="tx1"/>
                </a:solidFill>
                <a:hlinkClick r:id="rId6"/>
              </a:rPr>
              <a:t>https://www.researchgate.net/publication/343118558_A_Review_of_Face_Recognition_Technology</a:t>
            </a:r>
            <a:endParaRPr lang="en-IN" dirty="0">
              <a:solidFill>
                <a:schemeClr val="tx1"/>
              </a:solidFill>
            </a:endParaRPr>
          </a:p>
          <a:p>
            <a:pPr marL="444500" algn="just">
              <a:lnSpc>
                <a:spcPct val="150000"/>
              </a:lnSpc>
              <a:buClr>
                <a:schemeClr val="dk1"/>
              </a:buClr>
              <a:buSzPts val="2000"/>
              <a:buAutoNum type="arabicPeriod"/>
            </a:pPr>
            <a:r>
              <a:rPr lang="en-IN" dirty="0">
                <a:solidFill>
                  <a:schemeClr val="tx1"/>
                </a:solidFill>
                <a:hlinkClick r:id="rId7"/>
              </a:rPr>
              <a:t>https://francis-press.com/uploads/papers/qd2810eEIhPDLdXhBQjSWXVTJW4SrZ7iCUtQqZfs.pdf</a:t>
            </a:r>
            <a:endParaRPr lang="en-IN" dirty="0">
              <a:solidFill>
                <a:schemeClr val="tx1"/>
              </a:solidFill>
            </a:endParaRPr>
          </a:p>
        </p:txBody>
      </p:sp>
    </p:spTree>
    <p:extLst>
      <p:ext uri="{BB962C8B-B14F-4D97-AF65-F5344CB8AC3E}">
        <p14:creationId xmlns:p14="http://schemas.microsoft.com/office/powerpoint/2010/main" val="117206990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Presentation_Garbage_Classification_Model</Template>
  <TotalTime>288</TotalTime>
  <Words>639</Words>
  <Application>Microsoft Office PowerPoint</Application>
  <PresentationFormat>On-screen Show (16:9)</PresentationFormat>
  <Paragraphs>100</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Simple Light</vt:lpstr>
      <vt:lpstr>Facial Emotion Recognition System</vt:lpstr>
      <vt:lpstr>Technology </vt:lpstr>
      <vt:lpstr>Technology </vt:lpstr>
      <vt:lpstr>Methodology &amp; Process-Flow </vt:lpstr>
      <vt:lpstr>Data Flow Diagrams (DFDs)</vt:lpstr>
      <vt:lpstr>Hardware &amp; Dataset Overview</vt:lpstr>
      <vt:lpstr>PowerPoint Presentation</vt:lpstr>
      <vt:lpstr>Visualizing Dataset (Number of Images/class)</vt:lpstr>
      <vt:lpstr>Work Done (Current Progress)</vt:lpstr>
      <vt:lpstr>Future Work </vt:lpstr>
      <vt:lpstr>Future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Apurv Singh</dc:creator>
  <cp:lastModifiedBy>raj singh</cp:lastModifiedBy>
  <cp:revision>2</cp:revision>
  <dcterms:created xsi:type="dcterms:W3CDTF">2026-02-16T11:47:59Z</dcterms:created>
  <dcterms:modified xsi:type="dcterms:W3CDTF">2026-02-16T17:03:38Z</dcterms:modified>
</cp:coreProperties>
</file>